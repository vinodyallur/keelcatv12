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2148840"/>
            <a:ext cx="128016" cy="1828800"/>
          </a:xfrm>
          <a:prstGeom prst="roundRect">
            <a:avLst>
              <a:gd name="adj" fmla="val 6000"/>
            </a:avLst>
          </a:prstGeom>
          <a:solidFill>
            <a:srgbClr val="A8F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0116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6000" b="1" i="0">
                <a:solidFill>
                  <a:srgbClr val="F4F6F9"/>
                </a:solidFill>
                <a:latin typeface="Segoe UI"/>
              </a:rPr>
              <a:t>KeelCat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320040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 i="0">
                <a:solidFill>
                  <a:srgbClr val="A8FF53"/>
                </a:solidFill>
                <a:latin typeface="Segoe UI"/>
              </a:rPr>
              <a:t>Your APIs change. Your code keeps 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977639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0">
                <a:solidFill>
                  <a:srgbClr val="9AA3B2"/>
                </a:solidFill>
                <a:latin typeface="Segoe UI"/>
              </a:rPr>
              <a:t>Dependabot for the APIs your code calls — it detects breaking API changes,</a:t>
            </a:r>
            <a:br/>
            <a:r>
              <a:rPr sz="1600" b="0" i="0">
                <a:solidFill>
                  <a:srgbClr val="9AA3B2"/>
                </a:solidFill>
                <a:latin typeface="Segoe UI"/>
              </a:rPr>
              <a:t>fixes your code across every repo, and opens a pull request you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F4F6F9"/>
                </a:solidFill>
                <a:latin typeface="Segoe UI"/>
              </a:rPr>
              <a:t>Vinod &amp; Srushti</a:t>
            </a:r>
            <a:r>
              <a:rPr sz="1400">
                <a:solidFill>
                  <a:srgbClr val="666C78"/>
                </a:solidFill>
                <a:latin typeface="Segoe UI"/>
              </a:rPr>
              <a:t>     ·     keelcat.in     ·     Techstars Application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00">
                <a:solidFill>
                  <a:srgbClr val="A8FF53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 i="0">
                <a:solidFill>
                  <a:srgbClr val="F4F6F9"/>
                </a:solidFill>
                <a:latin typeface="Segoe UI"/>
              </a:rPr>
              <a:t>APIs break your code silently — in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Modern software runs on other people's APIs</a:t>
            </a:r>
            <a:r>
              <a:rPr sz="1800">
                <a:solidFill>
                  <a:srgbClr val="9AA3B2"/>
                </a:solidFill>
                <a:latin typeface="Segoe UI"/>
              </a:rPr>
              <a:t>  —  Stripe, Twilio, OpenAI, Anthropic, and dozens of internal services.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Every one of them changes</a:t>
            </a:r>
            <a:r>
              <a:rPr sz="1800">
                <a:solidFill>
                  <a:srgbClr val="9AA3B2"/>
                </a:solidFill>
                <a:latin typeface="Segoe UI"/>
              </a:rPr>
              <a:t>  —  a field is renamed, a method removed, an endpoint deprecated.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You find out when it breaks</a:t>
            </a:r>
            <a:r>
              <a:rPr sz="1800">
                <a:solidFill>
                  <a:srgbClr val="9AA3B2"/>
                </a:solidFill>
                <a:latin typeface="Segoe UI"/>
              </a:rPr>
              <a:t>  —  usually in production, for a customer, at the worst time.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The fix is a manual fire drill</a:t>
            </a:r>
            <a:r>
              <a:rPr sz="1800">
                <a:solidFill>
                  <a:srgbClr val="9AA3B2"/>
                </a:solidFill>
                <a:latin typeface="Segoe UI"/>
              </a:rPr>
              <a:t>  —  hunt every call site, across every repo and language, and rewrite by hand.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138928"/>
            <a:ext cx="3474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A8FF53"/>
                </a:solidFill>
                <a:latin typeface="Segoe UI"/>
              </a:rPr>
              <a:t>~40%</a:t>
            </a:r>
          </a:p>
          <a:p>
            <a:r>
              <a:rPr sz="1100" b="0" i="0">
                <a:solidFill>
                  <a:srgbClr val="9AA3B2"/>
                </a:solidFill>
                <a:latin typeface="Segoe UI"/>
              </a:rPr>
              <a:t>of integration failures come from</a:t>
            </a:r>
            <a:br/>
            <a:r>
              <a:rPr sz="1100" b="0" i="0">
                <a:solidFill>
                  <a:srgbClr val="9AA3B2"/>
                </a:solidFill>
                <a:latin typeface="Segoe UI"/>
              </a:rPr>
              <a:t>unmanaged API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5138928"/>
            <a:ext cx="3474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A8FF53"/>
                </a:solidFill>
                <a:latin typeface="Segoe UI"/>
              </a:rPr>
              <a:t>15–20 hrs</a:t>
            </a:r>
          </a:p>
          <a:p>
            <a:r>
              <a:rPr sz="1100" b="0" i="0">
                <a:solidFill>
                  <a:srgbClr val="9AA3B2"/>
                </a:solidFill>
                <a:latin typeface="Segoe UI"/>
              </a:rPr>
              <a:t>of emergency engineering</a:t>
            </a:r>
            <a:br/>
            <a:r>
              <a:rPr sz="1100" b="0" i="0">
                <a:solidFill>
                  <a:srgbClr val="9AA3B2"/>
                </a:solidFill>
                <a:latin typeface="Segoe UI"/>
              </a:rPr>
              <a:t>per incident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5138928"/>
            <a:ext cx="3474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i="0">
                <a:solidFill>
                  <a:srgbClr val="A8FF53"/>
                </a:solidFill>
                <a:latin typeface="Segoe UI"/>
              </a:rPr>
              <a:t>~90 days</a:t>
            </a:r>
          </a:p>
          <a:p>
            <a:r>
              <a:rPr sz="1100" b="0" i="0">
                <a:solidFill>
                  <a:srgbClr val="9AA3B2"/>
                </a:solidFill>
                <a:latin typeface="Segoe UI"/>
              </a:rPr>
              <a:t>AI API deprecation cycle —</a:t>
            </a:r>
            <a:br/>
            <a:r>
              <a:rPr sz="1100" b="0" i="0">
                <a:solidFill>
                  <a:srgbClr val="9AA3B2"/>
                </a:solidFill>
                <a:latin typeface="Segoe UI"/>
              </a:rPr>
              <a:t>and shrinking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A8FF53"/>
                </a:solidFill>
                <a:latin typeface="Segoe UI"/>
              </a:rPr>
              <a:t>KeelCat</a:t>
            </a:r>
            <a:r>
              <a:rPr sz="1000">
                <a:solidFill>
                  <a:srgbClr val="666C78"/>
                </a:solidFill>
                <a:latin typeface="Segoe UI"/>
              </a:rPr>
              <a:t>   ·   keelcat.in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66C7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00">
                <a:solidFill>
                  <a:srgbClr val="A8FF53"/>
                </a:solidFill>
                <a:latin typeface="Segoe U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 i="0">
                <a:solidFill>
                  <a:srgbClr val="F4F6F9"/>
                </a:solidFill>
                <a:latin typeface="Segoe UI"/>
              </a:rPr>
              <a:t>Two curves just crossed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APIs got faster-moving</a:t>
            </a:r>
            <a:r>
              <a:rPr sz="1800">
                <a:solidFill>
                  <a:srgbClr val="9AA3B2"/>
                </a:solidFill>
                <a:latin typeface="Segoe UI"/>
              </a:rPr>
              <a:t>  —  old providers kept years of backward compatibility; AI APIs deprecate on ~90-day cycles. Breaking changes went from rare to constant.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AI got good enough to fix code</a:t>
            </a:r>
            <a:r>
              <a:rPr sz="1800">
                <a:solidFill>
                  <a:srgbClr val="9AA3B2"/>
                </a:solidFill>
                <a:latin typeface="Segoe UI"/>
              </a:rPr>
              <a:t>  —  code-generation models can now read a changelog and rewrite the affected code reliably — not possible 18 months ago.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The pain is compounding</a:t>
            </a:r>
            <a:r>
              <a:rPr sz="1800">
                <a:solidFill>
                  <a:srgbClr val="9AA3B2"/>
                </a:solidFill>
                <a:latin typeface="Segoe UI"/>
              </a:rPr>
              <a:t>  —  more of the software world is built on fast-moving AI APIs every quarter.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1208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1">
                <a:solidFill>
                  <a:srgbClr val="F4F6F9"/>
                </a:solidFill>
                <a:latin typeface="Segoe UI"/>
              </a:rPr>
              <a:t>Autonomously absorbing breaking API changes is newly feasible — and newly necessary.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A8FF53"/>
                </a:solidFill>
                <a:latin typeface="Segoe UI"/>
              </a:rPr>
              <a:t>KeelCat</a:t>
            </a:r>
            <a:r>
              <a:rPr sz="1000">
                <a:solidFill>
                  <a:srgbClr val="666C78"/>
                </a:solidFill>
                <a:latin typeface="Segoe UI"/>
              </a:rPr>
              <a:t>   ·   keelcat.in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66C7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00">
                <a:solidFill>
                  <a:srgbClr val="A8FF53"/>
                </a:solidFill>
                <a:latin typeface="Segoe U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 i="0">
                <a:solidFill>
                  <a:srgbClr val="F4F6F9"/>
                </a:solidFill>
                <a:latin typeface="Segoe UI"/>
              </a:rPr>
              <a:t>KeelCat turns a changelog into reviewed pull requests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3474720" cy="150876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03704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A8FF53"/>
                </a:solidFill>
                <a:latin typeface="Segoe UI"/>
              </a:rPr>
              <a:t>1. </a:t>
            </a:r>
            <a:r>
              <a:rPr sz="1600" b="1">
                <a:solidFill>
                  <a:srgbClr val="F4F6F9"/>
                </a:solidFill>
                <a:latin typeface="Segoe UI"/>
              </a:rPr>
              <a:t>Watch</a:t>
            </a:r>
          </a:p>
          <a:p>
            <a:r>
              <a:rPr sz="1200" b="0" i="0">
                <a:solidFill>
                  <a:srgbClr val="9AA3B2"/>
                </a:solidFill>
                <a:latin typeface="Segoe UI"/>
              </a:rPr>
              <a:t>provider changelogs + webhooks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057400"/>
            <a:ext cx="3474720" cy="150876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203704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A8FF53"/>
                </a:solidFill>
                <a:latin typeface="Segoe UI"/>
              </a:rPr>
              <a:t>2. </a:t>
            </a:r>
            <a:r>
              <a:rPr sz="1600" b="1">
                <a:solidFill>
                  <a:srgbClr val="F4F6F9"/>
                </a:solidFill>
                <a:latin typeface="Segoe UI"/>
              </a:rPr>
              <a:t>Understand</a:t>
            </a:r>
          </a:p>
          <a:p>
            <a:r>
              <a:rPr sz="1200" b="0" i="0">
                <a:solidFill>
                  <a:srgbClr val="9AA3B2"/>
                </a:solidFill>
                <a:latin typeface="Segoe UI"/>
              </a:rPr>
              <a:t>structured change-set (parser first, LLM only when needed)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057400"/>
            <a:ext cx="3474720" cy="150876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203704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A8FF53"/>
                </a:solidFill>
                <a:latin typeface="Segoe UI"/>
              </a:rPr>
              <a:t>3. </a:t>
            </a:r>
            <a:r>
              <a:rPr sz="1600" b="1">
                <a:solidFill>
                  <a:srgbClr val="F4F6F9"/>
                </a:solidFill>
                <a:latin typeface="Segoe UI"/>
              </a:rPr>
              <a:t>Find</a:t>
            </a:r>
          </a:p>
          <a:p>
            <a:r>
              <a:rPr sz="1200" b="0" i="0">
                <a:solidFill>
                  <a:srgbClr val="9AA3B2"/>
                </a:solidFill>
                <a:latin typeface="Segoe UI"/>
              </a:rPr>
              <a:t>every affected call site, across repos &amp; languages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94760"/>
            <a:ext cx="3474720" cy="150876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41064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A8FF53"/>
                </a:solidFill>
                <a:latin typeface="Segoe UI"/>
              </a:rPr>
              <a:t>4. </a:t>
            </a:r>
            <a:r>
              <a:rPr sz="1600" b="1">
                <a:solidFill>
                  <a:srgbClr val="F4F6F9"/>
                </a:solidFill>
                <a:latin typeface="Segoe UI"/>
              </a:rPr>
              <a:t>Fix</a:t>
            </a:r>
          </a:p>
          <a:p>
            <a:r>
              <a:rPr sz="1200" b="0" i="0">
                <a:solidFill>
                  <a:srgbClr val="9AA3B2"/>
                </a:solidFill>
                <a:latin typeface="Segoe UI"/>
              </a:rPr>
              <a:t>deterministic transforms + LLM for the hard cases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794760"/>
            <a:ext cx="3474720" cy="150876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941064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A8FF53"/>
                </a:solidFill>
                <a:latin typeface="Segoe UI"/>
              </a:rPr>
              <a:t>5. </a:t>
            </a:r>
            <a:r>
              <a:rPr sz="1600" b="1">
                <a:solidFill>
                  <a:srgbClr val="F4F6F9"/>
                </a:solidFill>
                <a:latin typeface="Segoe UI"/>
              </a:rPr>
              <a:t>Verify</a:t>
            </a:r>
          </a:p>
          <a:p>
            <a:r>
              <a:rPr sz="1200" b="0" i="0">
                <a:solidFill>
                  <a:srgbClr val="9AA3B2"/>
                </a:solidFill>
                <a:latin typeface="Segoe UI"/>
              </a:rPr>
              <a:t>syntax + completeness check, sandbox run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794760"/>
            <a:ext cx="3474720" cy="150876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3941064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A8FF53"/>
                </a:solidFill>
                <a:latin typeface="Segoe UI"/>
              </a:rPr>
              <a:t>6. </a:t>
            </a:r>
            <a:r>
              <a:rPr sz="1600" b="1">
                <a:solidFill>
                  <a:srgbClr val="F4F6F9"/>
                </a:solidFill>
                <a:latin typeface="Segoe UI"/>
              </a:rPr>
              <a:t>PR</a:t>
            </a:r>
          </a:p>
          <a:p>
            <a:r>
              <a:rPr sz="1200" b="0" i="0">
                <a:solidFill>
                  <a:srgbClr val="9AA3B2"/>
                </a:solidFill>
                <a:latin typeface="Segoe UI"/>
              </a:rPr>
              <a:t>one reviewable pull request per repo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A8FF53"/>
                </a:solidFill>
                <a:latin typeface="Segoe UI"/>
              </a:rPr>
              <a:t>A human always reviews. KeelCat never merges on its own.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A8FF53"/>
                </a:solidFill>
                <a:latin typeface="Segoe UI"/>
              </a:rPr>
              <a:t>KeelCat</a:t>
            </a:r>
            <a:r>
              <a:rPr sz="1000">
                <a:solidFill>
                  <a:srgbClr val="666C78"/>
                </a:solidFill>
                <a:latin typeface="Segoe UI"/>
              </a:rPr>
              <a:t>   ·   keelcat.in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66C7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00">
                <a:solidFill>
                  <a:srgbClr val="A8FF53"/>
                </a:solidFill>
                <a:latin typeface="Segoe U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 i="0">
                <a:solidFill>
                  <a:srgbClr val="F4F6F9"/>
                </a:solidFill>
                <a:latin typeface="Segoe UI"/>
              </a:rPr>
              <a:t>Live today at keelcat.in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Connect GitHub, pick repos</a:t>
            </a:r>
            <a:r>
              <a:rPr sz="1800">
                <a:solidFill>
                  <a:srgbClr val="9AA3B2"/>
                </a:solidFill>
                <a:latin typeface="Segoe UI"/>
              </a:rPr>
              <a:t>  —  GitHub App or token; multi-account.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Register the APIs you depend on</a:t>
            </a:r>
            <a:r>
              <a:rPr sz="1800">
                <a:solidFill>
                  <a:srgbClr val="9AA3B2"/>
                </a:solidFill>
                <a:latin typeface="Segoe UI"/>
              </a:rPr>
              <a:t>  —  changelog URLs, polling + webhooks.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Watch it work</a:t>
            </a:r>
            <a:r>
              <a:rPr sz="1800">
                <a:solidFill>
                  <a:srgbClr val="9AA3B2"/>
                </a:solidFill>
                <a:latin typeface="Segoe UI"/>
              </a:rPr>
              <a:t>  —  live dashboard of repos changing, PRs opened, and their status.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Sign in with GitHub, Google, or as a guest</a:t>
            </a:r>
            <a:r>
              <a:rPr sz="1800">
                <a:solidFill>
                  <a:srgbClr val="9AA3B2"/>
                </a:solidFill>
                <a:latin typeface="Segoe UI"/>
              </a:rPr>
              <a:t>  —  isolated per-user workspaces.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292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120640"/>
            <a:ext cx="10424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 i="0">
                <a:solidFill>
                  <a:srgbClr val="9AA3B2"/>
                </a:solidFill>
                <a:latin typeface="Segoe UI"/>
              </a:rPr>
              <a:t>Built &amp; shipped: multi-tenant SaaS, GitHub App + webhooks, hybrid fix engine, sandbox verification, security pass, Razorpay billing.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A8FF53"/>
                </a:solidFill>
                <a:latin typeface="Segoe UI"/>
              </a:rPr>
              <a:t>KeelCat</a:t>
            </a:r>
            <a:r>
              <a:rPr sz="1000">
                <a:solidFill>
                  <a:srgbClr val="666C78"/>
                </a:solidFill>
                <a:latin typeface="Segoe UI"/>
              </a:rPr>
              <a:t>   ·   keelcat.in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66C7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00">
                <a:solidFill>
                  <a:srgbClr val="A8FF53"/>
                </a:solidFill>
                <a:latin typeface="Segoe UI"/>
              </a:rPr>
              <a:t>WHY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 i="0">
                <a:solidFill>
                  <a:srgbClr val="F4F6F9"/>
                </a:solidFill>
                <a:latin typeface="Segoe UI"/>
              </a:rPr>
              <a:t>We lived this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1">
                <a:solidFill>
                  <a:srgbClr val="F4F6F9"/>
                </a:solidFill>
                <a:latin typeface="Segoe UI"/>
              </a:rPr>
              <a:t>“As an intern, a missed changelog took our app down. I shipped 35 pull requests in 9 hours to fix every broken call site by hand.”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0">
                <a:solidFill>
                  <a:srgbClr val="9AA3B2"/>
                </a:solidFill>
                <a:latin typeface="Segoe UI"/>
              </a:rPr>
              <a:t>That night is why KeelCat exists. It should have been one reviewed PR, opened automatically.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0916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Deeply technical founders</a:t>
            </a:r>
            <a:r>
              <a:rPr sz="1800">
                <a:solidFill>
                  <a:srgbClr val="9AA3B2"/>
                </a:solidFill>
                <a:latin typeface="Segoe UI"/>
              </a:rPr>
              <a:t>  —  we build the full stack — detection, fix engine, and infra.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Shipping fast</a:t>
            </a:r>
            <a:r>
              <a:rPr sz="1800">
                <a:solidFill>
                  <a:srgbClr val="9AA3B2"/>
                </a:solidFill>
                <a:latin typeface="Segoe UI"/>
              </a:rPr>
              <a:t>  —  MVP live, deployed, and in the hands of real teams.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A8FF53"/>
                </a:solidFill>
                <a:latin typeface="Segoe UI"/>
              </a:rPr>
              <a:t>KeelCat</a:t>
            </a:r>
            <a:r>
              <a:rPr sz="1000">
                <a:solidFill>
                  <a:srgbClr val="666C78"/>
                </a:solidFill>
                <a:latin typeface="Segoe UI"/>
              </a:rPr>
              <a:t>   ·   keelcat.in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66C7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00">
                <a:solidFill>
                  <a:srgbClr val="A8FF53"/>
                </a:solidFill>
                <a:latin typeface="Segoe UI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 i="0">
                <a:solidFill>
                  <a:srgbClr val="F4F6F9"/>
                </a:solidFill>
                <a:latin typeface="Segoe UI"/>
              </a:rPr>
              <a:t>A large, growing, structurally-tailwinded 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31089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i="0">
                <a:solidFill>
                  <a:srgbClr val="A8FF53"/>
                </a:solidFill>
                <a:latin typeface="Segoe UI"/>
              </a:rPr>
              <a:t>$8–10B</a:t>
            </a:r>
          </a:p>
          <a:p>
            <a:r>
              <a:rPr sz="1300" b="0" i="0">
                <a:solidFill>
                  <a:srgbClr val="9AA3B2"/>
                </a:solidFill>
                <a:latin typeface="Segoe UI"/>
              </a:rPr>
              <a:t>API management market,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01168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240280"/>
            <a:ext cx="31089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i="0">
                <a:solidFill>
                  <a:srgbClr val="A8FF53"/>
                </a:solidFill>
                <a:latin typeface="Segoe UI"/>
              </a:rPr>
              <a:t>17–25%</a:t>
            </a:r>
          </a:p>
          <a:p>
            <a:r>
              <a:rPr sz="1300" b="0" i="0">
                <a:solidFill>
                  <a:srgbClr val="9AA3B2"/>
                </a:solidFill>
                <a:latin typeface="Segoe UI"/>
              </a:rPr>
              <a:t>annual growth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01168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240280"/>
            <a:ext cx="31089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i="0">
                <a:solidFill>
                  <a:srgbClr val="A8FF53"/>
                </a:solidFill>
                <a:latin typeface="Segoe UI"/>
              </a:rPr>
              <a:t>$240M+</a:t>
            </a:r>
          </a:p>
          <a:p>
            <a:r>
              <a:rPr sz="1300" b="0" i="0">
                <a:solidFill>
                  <a:srgbClr val="9AA3B2"/>
                </a:solidFill>
                <a:latin typeface="Segoe UI"/>
              </a:rPr>
              <a:t>ARR at 100k teams × ~$200/mo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Same buyer &amp; budget</a:t>
            </a:r>
            <a:r>
              <a:rPr sz="1800">
                <a:solidFill>
                  <a:srgbClr val="9AA3B2"/>
                </a:solidFill>
                <a:latin typeface="Segoe UI"/>
              </a:rPr>
              <a:t>  —  as Dependabot, Snyk, and Sourcegraph.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Structural tailwind</a:t>
            </a:r>
            <a:r>
              <a:rPr sz="1800">
                <a:solidFill>
                  <a:srgbClr val="9AA3B2"/>
                </a:solidFill>
                <a:latin typeface="Segoe UI"/>
              </a:rPr>
              <a:t>  —  fast-moving AI APIs raise the frequency and cost of breaking changes every quarter.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A8FF53"/>
                </a:solidFill>
                <a:latin typeface="Segoe UI"/>
              </a:rPr>
              <a:t>KeelCat</a:t>
            </a:r>
            <a:r>
              <a:rPr sz="1000">
                <a:solidFill>
                  <a:srgbClr val="666C78"/>
                </a:solidFill>
                <a:latin typeface="Segoe UI"/>
              </a:rPr>
              <a:t>   ·   keelcat.in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66C7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00">
                <a:solidFill>
                  <a:srgbClr val="A8FF53"/>
                </a:solidFill>
                <a:latin typeface="Segoe UI"/>
              </a:rP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 i="0">
                <a:solidFill>
                  <a:srgbClr val="F4F6F9"/>
                </a:solidFill>
                <a:latin typeface="Segoe UI"/>
              </a:rPr>
              <a:t>The trigger, not the transform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881360" cy="114300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75688"/>
            <a:ext cx="4023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F4F6F9"/>
                </a:solidFill>
                <a:latin typeface="Segoe UI"/>
              </a:rPr>
              <a:t>Version bots — Dependabot, Renovate, Snyk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075688"/>
            <a:ext cx="30175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0">
                <a:solidFill>
                  <a:srgbClr val="9AA3B2"/>
                </a:solidFill>
                <a:latin typeface="Segoe UI"/>
              </a:rPr>
              <a:t>Bump versions, flag CVEs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075688"/>
            <a:ext cx="31089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0">
                <a:solidFill>
                  <a:srgbClr val="9AA3B2"/>
                </a:solidFill>
                <a:latin typeface="Segoe UI"/>
              </a:rPr>
              <a:t>Don't read changelogs or rewrite your API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64408"/>
            <a:ext cx="10881360" cy="114300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374136"/>
            <a:ext cx="4023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F4F6F9"/>
                </a:solidFill>
                <a:latin typeface="Segoe UI"/>
              </a:rPr>
              <a:t>Code transforms — Sourcegraph, Moderne, Grit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374136"/>
            <a:ext cx="30175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0">
                <a:solidFill>
                  <a:srgbClr val="9AA3B2"/>
                </a:solidFill>
                <a:latin typeface="Segoe UI"/>
              </a:rPr>
              <a:t>Large-scale migrations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374136"/>
            <a:ext cx="31089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0">
                <a:solidFill>
                  <a:srgbClr val="9AA3B2"/>
                </a:solidFill>
                <a:latin typeface="Segoe UI"/>
              </a:rPr>
              <a:t>Engineer must author the recipe and trigger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62856"/>
            <a:ext cx="10881360" cy="1143000"/>
          </a:xfrm>
          <a:prstGeom prst="roundRect">
            <a:avLst>
              <a:gd name="adj" fmla="val 6000"/>
            </a:avLst>
          </a:prstGeom>
          <a:solidFill>
            <a:srgbClr val="A8F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672584"/>
            <a:ext cx="40233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 i="0">
                <a:solidFill>
                  <a:srgbClr val="12141A"/>
                </a:solidFill>
                <a:latin typeface="Segoe UI"/>
              </a:rPr>
              <a:t>KeelCat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672584"/>
            <a:ext cx="30175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0">
                <a:solidFill>
                  <a:srgbClr val="12141A"/>
                </a:solidFill>
                <a:latin typeface="Segoe UI"/>
              </a:rPr>
              <a:t>Detect a breaking change → fix → verify → PR, autonomously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672584"/>
            <a:ext cx="31089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0" i="0">
                <a:solidFill>
                  <a:srgbClr val="12141A"/>
                </a:solidFill>
                <a:latin typeface="Segoe UI"/>
              </a:rPr>
              <a:t>No human needed to trigger or author the migration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A8FF53"/>
                </a:solidFill>
                <a:latin typeface="Segoe UI"/>
              </a:rPr>
              <a:t>Scoping to external APIs makes autonomy tractable and accurate.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A8FF53"/>
                </a:solidFill>
                <a:latin typeface="Segoe UI"/>
              </a:rPr>
              <a:t>KeelCat</a:t>
            </a:r>
            <a:r>
              <a:rPr sz="1000">
                <a:solidFill>
                  <a:srgbClr val="666C78"/>
                </a:solidFill>
                <a:latin typeface="Segoe UI"/>
              </a:rPr>
              <a:t>   ·   keelcat.in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66C7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00">
                <a:solidFill>
                  <a:srgbClr val="A8FF53"/>
                </a:solidFill>
                <a:latin typeface="Segoe U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 i="0">
                <a:solidFill>
                  <a:srgbClr val="F4F6F9"/>
                </a:solidFill>
                <a:latin typeface="Segoe UI"/>
              </a:rPr>
              <a:t>SaaS, bottom-up, expands with dependencies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474720" cy="219456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29260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 i="0">
                <a:solidFill>
                  <a:srgbClr val="A8FF53"/>
                </a:solidFill>
                <a:latin typeface="Segoe UI"/>
              </a:rPr>
              <a:t>Free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F4F6F9"/>
                </a:solidFill>
                <a:latin typeface="Segoe UI"/>
              </a:rPr>
              <a:t>Individuals &amp; OSS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9AA3B2"/>
                </a:solidFill>
                <a:latin typeface="Segoe UI"/>
              </a:rPr>
              <a:t>10 runs to try, then upgrade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011680"/>
            <a:ext cx="3474720" cy="219456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 w="12700">
            <a:solidFill>
              <a:srgbClr val="A8FF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240280"/>
            <a:ext cx="29260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 i="0">
                <a:solidFill>
                  <a:srgbClr val="A8FF53"/>
                </a:solidFill>
                <a:latin typeface="Segoe UI"/>
              </a:rPr>
              <a:t>Team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F4F6F9"/>
                </a:solidFill>
                <a:latin typeface="Segoe UI"/>
              </a:rPr>
              <a:t>$20–40 / dev / mo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9AA3B2"/>
                </a:solidFill>
                <a:latin typeface="Segoe UI"/>
              </a:rPr>
              <a:t>unlimited runs, all repos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011680"/>
            <a:ext cx="3474720" cy="219456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240280"/>
            <a:ext cx="29260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 i="0">
                <a:solidFill>
                  <a:srgbClr val="A8FF53"/>
                </a:solidFill>
                <a:latin typeface="Segoe UI"/>
              </a:rPr>
              <a:t>Enterprise</a:t>
            </a:r>
          </a:p>
          <a:p>
            <a:pPr>
              <a:spcBef>
                <a:spcPts val="600"/>
              </a:spcBef>
            </a:pPr>
            <a:r>
              <a:rPr sz="1600" b="1" i="0">
                <a:solidFill>
                  <a:srgbClr val="F4F6F9"/>
                </a:solidFill>
                <a:latin typeface="Segoe UI"/>
              </a:rPr>
              <a:t>Custom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9AA3B2"/>
                </a:solidFill>
                <a:latin typeface="Segoe UI"/>
              </a:rPr>
              <a:t>internal APIs, policies,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0">
                <a:solidFill>
                  <a:srgbClr val="9AA3B2"/>
                </a:solidFill>
                <a:latin typeface="Segoe UI"/>
              </a:rPr>
              <a:t>Wedge: breaking-change auto-fix. Expansion: the system of record for every external dependency your code calls. Razorpay billing is live.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A8FF53"/>
                </a:solidFill>
                <a:latin typeface="Segoe UI"/>
              </a:rPr>
              <a:t>KeelCat</a:t>
            </a:r>
            <a:r>
              <a:rPr sz="1000">
                <a:solidFill>
                  <a:srgbClr val="666C78"/>
                </a:solidFill>
                <a:latin typeface="Segoe UI"/>
              </a:rPr>
              <a:t>   ·   keelcat.in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66C7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00">
                <a:solidFill>
                  <a:srgbClr val="A8FF53"/>
                </a:solidFill>
                <a:latin typeface="Segoe U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 i="0">
                <a:solidFill>
                  <a:srgbClr val="F4F6F9"/>
                </a:solidFill>
                <a:latin typeface="Segoe UI"/>
              </a:rPr>
              <a:t>Live, in the market, with first revenue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12848"/>
            <a:ext cx="31089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A8FF53"/>
                </a:solidFill>
                <a:latin typeface="Segoe UI"/>
              </a:rPr>
              <a:t>LIVE</a:t>
            </a:r>
          </a:p>
          <a:p>
            <a:r>
              <a:rPr sz="1200" b="0" i="0">
                <a:solidFill>
                  <a:srgbClr val="9AA3B2"/>
                </a:solidFill>
                <a:latin typeface="Segoe UI"/>
              </a:rPr>
              <a:t>product in production</a:t>
            </a:r>
            <a:br/>
            <a:r>
              <a:rPr sz="1200" b="0" i="0">
                <a:solidFill>
                  <a:srgbClr val="9AA3B2"/>
                </a:solidFill>
                <a:latin typeface="Segoe UI"/>
              </a:rPr>
              <a:t>at keelcat.in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01168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212848"/>
            <a:ext cx="31089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A8FF53"/>
                </a:solidFill>
                <a:latin typeface="Segoe UI"/>
              </a:rPr>
              <a:t>2 teams</a:t>
            </a:r>
          </a:p>
          <a:p>
            <a:r>
              <a:rPr sz="1200" b="0" i="0">
                <a:solidFill>
                  <a:srgbClr val="9AA3B2"/>
                </a:solidFill>
                <a:latin typeface="Segoe UI"/>
              </a:rPr>
              <a:t>actively testing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01168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212848"/>
            <a:ext cx="31089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i="0">
                <a:solidFill>
                  <a:srgbClr val="A8FF53"/>
                </a:solidFill>
                <a:latin typeface="Segoe UI"/>
              </a:rPr>
              <a:t>1st $</a:t>
            </a:r>
          </a:p>
          <a:p>
            <a:r>
              <a:rPr sz="1200" b="0" i="0">
                <a:solidFill>
                  <a:srgbClr val="9AA3B2"/>
                </a:solidFill>
                <a:latin typeface="Segoe UI"/>
              </a:rPr>
              <a:t>first paying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Shipped end-to-end</a:t>
            </a:r>
            <a:r>
              <a:rPr sz="1800">
                <a:solidFill>
                  <a:srgbClr val="9AA3B2"/>
                </a:solidFill>
                <a:latin typeface="Segoe UI"/>
              </a:rPr>
              <a:t>  —  multi-tenant auth, GitHub/Google/guest login, billing, deployment.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North-star metric</a:t>
            </a:r>
            <a:r>
              <a:rPr sz="1800">
                <a:solidFill>
                  <a:srgbClr val="9AA3B2"/>
                </a:solidFill>
                <a:latin typeface="Segoe UI"/>
              </a:rPr>
              <a:t>  —  PR merge rate — are teams actually merging what we open?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A8FF53"/>
                </a:solidFill>
                <a:latin typeface="Segoe UI"/>
              </a:rPr>
              <a:t>KeelCat</a:t>
            </a:r>
            <a:r>
              <a:rPr sz="1000">
                <a:solidFill>
                  <a:srgbClr val="666C78"/>
                </a:solidFill>
                <a:latin typeface="Segoe UI"/>
              </a:rPr>
              <a:t>   ·   keelcat.in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66C7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00">
                <a:solidFill>
                  <a:srgbClr val="A8FF53"/>
                </a:solidFill>
                <a:latin typeface="Segoe U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 i="0">
                <a:solidFill>
                  <a:srgbClr val="F4F6F9"/>
                </a:solidFill>
                <a:latin typeface="Segoe UI"/>
              </a:rPr>
              <a:t>Builders who ship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76272"/>
            <a:ext cx="103327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A8FF53"/>
                </a:solidFill>
                <a:latin typeface="Segoe UI"/>
              </a:rPr>
              <a:t>Vinod</a:t>
            </a:r>
          </a:p>
          <a:p>
            <a:r>
              <a:rPr sz="1400" b="0" i="0">
                <a:solidFill>
                  <a:srgbClr val="9AA3B2"/>
                </a:solidFill>
                <a:latin typeface="Segoe UI"/>
              </a:rPr>
              <a:t>Builds the full stack — detection, fix engine, infra. Startups since 17; hardware, trading systems, and autonomous systems background.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61188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1B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76472"/>
            <a:ext cx="1033272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A8FF53"/>
                </a:solidFill>
                <a:latin typeface="Segoe UI"/>
              </a:rPr>
              <a:t>Srushti</a:t>
            </a:r>
          </a:p>
          <a:p>
            <a:r>
              <a:rPr sz="1400" b="0" i="0">
                <a:solidFill>
                  <a:srgbClr val="9AA3B2"/>
                </a:solidFill>
                <a:latin typeface="Segoe UI"/>
              </a:rPr>
              <a:t>Co-founder; went full-time on KeelCat. Engineering classmates since 2022.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A8FF53"/>
                </a:solidFill>
                <a:latin typeface="Segoe UI"/>
              </a:rPr>
              <a:t>KeelCat</a:t>
            </a:r>
            <a:r>
              <a:rPr sz="1000">
                <a:solidFill>
                  <a:srgbClr val="666C78"/>
                </a:solidFill>
                <a:latin typeface="Segoe UI"/>
              </a:rPr>
              <a:t>   ·   keelcat.in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190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66C7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2011680"/>
            <a:ext cx="128016" cy="2743200"/>
          </a:xfrm>
          <a:prstGeom prst="roundRect">
            <a:avLst>
              <a:gd name="adj" fmla="val 6000"/>
            </a:avLst>
          </a:prstGeom>
          <a:solidFill>
            <a:srgbClr val="A8FF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9659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 i="0">
                <a:solidFill>
                  <a:srgbClr val="F4F6F9"/>
                </a:solidFill>
                <a:latin typeface="Segoe UI"/>
              </a:rPr>
              <a:t>Join Techstars with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971800"/>
            <a:ext cx="108813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Now</a:t>
            </a:r>
            <a:r>
              <a:rPr sz="1800">
                <a:solidFill>
                  <a:srgbClr val="9AA3B2"/>
                </a:solidFill>
                <a:latin typeface="Segoe UI"/>
              </a:rPr>
              <a:t>  —  grow the design-partner base and drive PR merge rate up.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Next</a:t>
            </a:r>
            <a:r>
              <a:rPr sz="1800">
                <a:solidFill>
                  <a:srgbClr val="9AA3B2"/>
                </a:solidFill>
                <a:latin typeface="Segoe UI"/>
              </a:rPr>
              <a:t>  —  broader language coverage, pre-wired provider registry, run each repo's own tests.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A8FF53"/>
                </a:solidFill>
                <a:latin typeface="Segoe UI"/>
              </a:rPr>
              <a:t>▸  </a:t>
            </a:r>
            <a:r>
              <a:rPr sz="1800" b="1">
                <a:solidFill>
                  <a:srgbClr val="F4F6F9"/>
                </a:solidFill>
                <a:latin typeface="Segoe UI"/>
              </a:rPr>
              <a:t>Vision</a:t>
            </a:r>
            <a:r>
              <a:rPr sz="1800">
                <a:solidFill>
                  <a:srgbClr val="9AA3B2"/>
                </a:solidFill>
                <a:latin typeface="Segoe UI"/>
              </a:rPr>
              <a:t>  —  the system that keeps the world's code working as the APIs beneath it change.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6692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>
                <a:solidFill>
                  <a:srgbClr val="A8FF53"/>
                </a:solidFill>
                <a:latin typeface="Segoe UI"/>
              </a:rPr>
              <a:t>keelcat.in</a:t>
            </a:r>
            <a:r>
              <a:rPr sz="1400">
                <a:solidFill>
                  <a:srgbClr val="9AA3B2"/>
                </a:solidFill>
                <a:latin typeface="Segoe UI"/>
              </a:rPr>
              <a:t>     ·     Vinod &amp; Srushti     ·     Your APIs change. Your code keeps 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